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6459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70"/>
                </a:solidFill>
                <a:latin typeface="Courier New"/>
              </a:rPr>
              <a:t>CS315 — Advanced Machine Learning · Nhóm CN2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205740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180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2DCD0"/>
                </a:solidFill>
                <a:latin typeface="Georgia"/>
              </a:rPr>
              <a:t>Hệ Thống Phân Tích và Dự Đoán Giá Tiền Mã Hóa Theo Thời Gian Thực Dựa Trên Kiến Trúc Lambda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319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870"/>
                </a:solidFill>
                <a:latin typeface="Courier New"/>
              </a:rPr>
              <a:t>Bitcoin BTC  ·  Dogecoin DOGE  ·  Kafka · Spark · LSTM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Giới Thiệu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02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Vấn Đề &amp; Động Lực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Tại sao cần hệ thống thời gian thực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10180015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6A8"/>
                </a:solidFill>
                <a:latin typeface="Calibri"/>
              </a:rPr>
              <a:t>• Thị trường crypto biến động cao — phần lớn hệ thống hiện tại chỉ xử lý batch, không đáp ứng được nhu cầu dashboard realtime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Dự đoán giá ngắn hạn có giá trị lớn nhưng rất khó do bản chất phi tuyến và fat-tail cực đoan của chuỗi tài chính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Câu hỏi nghiên cứu: Có thể kết hợp Lambda Architecture + LSTM để phân tích crypto realtime không?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Giới Thiệu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03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Mục Tiêu Đề Tài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4 mục tiêu cụ thể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Nghiên Cứu Liên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04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Nền Tảng Lý Thuyết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Điểm tựa nghiên cứu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05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Lambda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Ba lớp, một serving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10180015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6A8"/>
                </a:solidFill>
                <a:latin typeface="Calibri"/>
              </a:rPr>
              <a:t>• [Batch Layer (Accuracy High)] CSV lịch sử → Spark Batch → MongoDB · daily_stats · historical_sma · coin_correlation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[Speed Layer (Latency Low)] CoinGecko API → Kafka (crypto_raw) → Spark Streaming → realtime_prices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[Serving Layer] MongoDB → FastAPI (JWT) → React Frontend · Streamlit · LSTM Inference Scheduler → predictions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9788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5A6E"/>
                </a:solidFill>
                <a:latin typeface="Calibri"/>
              </a:rPr>
              <a:t>10 Docker services · Zookeeper · Kafka · Kafka UI · MongoDB · Spark Master · Spark Worker · Producer · Dashboard · API · Frontend ·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06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Thu Thập Dữ Liệu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CoinGecko API — hai kênh song song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07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Phân Tích Khám Phá Dữ Liệu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BTC vs DOGE — hai bản chất khác nhau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08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Kiểm Định Tính Dừng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Log-return dừng mạnh — lý do dùng HuberLoss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09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Bộ Đặc Trưng 9 Chiều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Cửa sổ input: 60 ngày × 9 features → 7 log-return tương lai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10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Phân Chia Chronological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Không shuffle — rolling window 730 ngày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10180015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6A8"/>
                </a:solidFill>
                <a:latin typeface="Calibri"/>
              </a:rPr>
              <a:t>• Rolling window 730 ngày ≈ 2 năm — đủ để bắt 1–2 chu kỳ thị trường, đủ ngắn để tránh stale regime. Crypto thay đổi nhanh hơn nhiều so với cổ phiếu truyền thống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Nhãn UP/DOWN: adaptive threshold theo median training set → cân bằng nhất quán qua 7 bước: Step1=50,5% · Step3=51,1% · Step7=50,7%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Mô Hình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11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Hành Trình Phát Triển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Từ v1 đến v3 — ba lần nâng cấp có chủ đích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10180015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6A8"/>
                </a:solidFill>
                <a:latin typeface="Calibri"/>
              </a:rPr>
              <a:t>• v1: Price Only — 2-layer LSTM · 1 Price Head 7 log-return · HuberLoss thuần. → đúng giá trị, sai hướng không bị phạt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v2: + Direction Head — Price Head + Direction Head Loss: α·L_price + β·L_direction (CrossEntropy). → không có khoảng tin cậy, heads độc lập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v3 — Final: Direction Head → Weighted Loss + Volatility Head mới — Price Head + Volatility Head (2 heads) Direction signal: không cần head riêng — tích hợp vào loss w×Huber. → 61,1% Dir Acc · CI ±1σ · 219k params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Mô Hình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12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LSTM v1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Price Only — bước khởi đầu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Mô Hình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13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LSTM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Thêm Direction Head — tín hiệu hướng rõ ràng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Mô Hình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14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LSTM v3 — Giải Pháp Cuối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Hai đổi mới then chốt: Weighted Loss + Volatility Head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Mô Hình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15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Kiến Trúc LSTM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219.662 tham số — encoder chiếm &gt;90%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16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Speed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Kafka + Spark Streaming — chỉ số kỹ thuật realtime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17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Batch Layer + Serving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Dữ liệu lịch sử → MongoDB → 5 trang React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Đánh Giá Mô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18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Walk-Forward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6 fold × 60 ngày — mô phỏng quy trình thực tế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19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Backtest 6 Tháng — Bitcoin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Giai đoạn: 23/01/2026 – 29/05/2026 · Mô hình không thấy dữ liệu này trước khi đánh giá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20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Kết Quả Trên Tập Test Tĩnh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Test set ~73 ngày — walk-forward đáng tin cậy hơn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2130552"/>
          <a:ext cx="10180014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338"/>
                <a:gridCol w="1696669"/>
                <a:gridCol w="1696669"/>
                <a:gridCol w="1696669"/>
                <a:gridCol w="1696669"/>
              </a:tblGrid>
              <a:tr h="37795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C8A870"/>
                          </a:solidFill>
                          <a:latin typeface="Courier New"/>
                        </a:rPr>
                        <a:t>Coin</a:t>
                      </a:r>
                    </a:p>
                  </a:txBody>
                  <a:tcPr>
                    <a:solidFill>
                      <a:srgbClr val="232F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C8A870"/>
                          </a:solidFill>
                          <a:latin typeface="Courier New"/>
                        </a:rPr>
                        <a:t>RMSE</a:t>
                      </a:r>
                    </a:p>
                  </a:txBody>
                  <a:tcPr>
                    <a:solidFill>
                      <a:srgbClr val="232F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C8A870"/>
                          </a:solidFill>
                          <a:latin typeface="Courier New"/>
                        </a:rPr>
                        <a:t>MAE</a:t>
                      </a:r>
                    </a:p>
                  </a:txBody>
                  <a:tcPr>
                    <a:solidFill>
                      <a:srgbClr val="232F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C8A870"/>
                          </a:solidFill>
                          <a:latin typeface="Courier New"/>
                        </a:rPr>
                        <a:t>Dir Acc (bước 1)</a:t>
                      </a:r>
                    </a:p>
                  </a:txBody>
                  <a:tcPr>
                    <a:solidFill>
                      <a:srgbClr val="232F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C8A870"/>
                          </a:solidFill>
                          <a:latin typeface="Courier New"/>
                        </a:rPr>
                        <a:t>Epochs</a:t>
                      </a:r>
                    </a:p>
                  </a:txBody>
                  <a:tcPr>
                    <a:solidFill>
                      <a:srgbClr val="232F55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Bitcoin (BTC)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$1.799,50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$1.288,92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40,0%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Dogecoin (DOGE)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$0,00325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$0,00267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20,0%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A96A8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1C26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21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Volatility 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Học được volatility clustering — đặc tính phổ biến trong tài chính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504428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A870"/>
                </a:solidFill>
                <a:latin typeface="Georgia"/>
              </a:rPr>
              <a:t>0,794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5044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8"/>
                </a:solidFill>
                <a:latin typeface="Calibri"/>
              </a:rPr>
              <a:t>Vol Head RMSE — Bitcoin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2130552"/>
            <a:ext cx="504428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A870"/>
                </a:solidFill>
                <a:latin typeface="Georgia"/>
              </a:rPr>
              <a:t>0,622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2724912"/>
            <a:ext cx="5044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8"/>
                </a:solidFill>
                <a:latin typeface="Calibri"/>
              </a:rPr>
              <a:t>Vol Head RMSE — Dogecoin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27832"/>
            <a:ext cx="10180015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6A8"/>
                </a:solidFill>
                <a:latin typeface="Calibri"/>
              </a:rPr>
              <a:t>• Dashboard hiển thị vùng tin cậy ±1σ quanh dự đoán giá — giai đoạn biến động cao → vùng tô màu rộng hơn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Tính năng này không có trong LSTM đơn giản — là điểm phân biệt của v3 so với baseline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22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Đóng Góp Của Đề Tài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Những gì đã làm được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10180015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6A8"/>
                </a:solidFill>
                <a:latin typeface="Calibri"/>
              </a:rPr>
              <a:t>• Pipeline Lambda Architecture end-to-end — khởi động 1 lệnh make docker-up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LSTM v3 Dual-Head — price + volatility — 219k parameters — MIMO 7-step forecast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Direction-Weighted Huber Loss — phạt 3× khi sai hướng — thiết kế loss có chủ đích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Walk-Forward Validation 6 fold + Backtest 6 tháng thực tế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Directional Accuracy 61,1% cho horizon 7 ngày — vượt baseline random 11,1 điểm phần trăm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Volatility Head cho khoảng tin cậy dự đoán — tính năng thực tiễn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React Frontend hoàn chỉnh — 5 trang · JWT Auth · Model Registry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23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Hạn Chế Và Điểm Cần Cải Thiện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Đánh giá trung thực những gì chưa làm tốt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10180015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6A8"/>
                </a:solidFill>
                <a:latin typeface="Calibri"/>
              </a:rPr>
              <a:t>• fear_greed = placeholder 0,5 — feature luôn bằng neutral, không mang thông tin thực. Chưa tích hợp Alternative.me API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Thiếu OHLC đầy đủ — CoinGecko daily chỉ có close/volume. ATR dùng |log_return| làm proxy thay vì True Range thực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Dir Acc thấp trên test set tĩnh — BTC: 40% · DOGE: 20% — nhạy cảm với thời kỳ thị trường (~73 quan sát)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Không xét yếu tố ngoại sinh — tweet, quy định pháp lý, fork tác động mạnh nhưng không được mã hóa trong features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8A96A8"/>
                </a:solidFill>
                <a:latin typeface="Calibri"/>
              </a:rPr>
              <a:t>• Horizon ≥15 ngày không hiệu quả — Dir Acc = 50% (random) · LSTM đơn giản không phù hợp dự đoán dài hạn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91440"/>
            <a:ext cx="5090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A8"/>
                </a:solidFill>
                <a:latin typeface="Courier New"/>
              </a:rPr>
              <a:t>24 /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E5A6E"/>
                </a:solidFill>
                <a:latin typeface="Courier New"/>
              </a:rPr>
              <a:t>CS315 — Advanced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73952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E5A6E"/>
                </a:solidFill>
                <a:latin typeface="Courier New"/>
              </a:rPr>
              <a:t>Nhóm CN2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Courier New"/>
              </a:rPr>
              <a:t>Tương Lai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61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DCD0"/>
                </a:solidFill>
                <a:latin typeface="Georgia"/>
              </a:rPr>
              <a:t>Các bước tiếp theo có độ ưu tiên rõ ràng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6459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70"/>
                </a:solidFill>
                <a:latin typeface="Courier New"/>
              </a:rPr>
              <a:t>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2057400"/>
            <a:ext cx="365760" cy="1905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180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2DCD0"/>
                </a:solidFill>
                <a:latin typeface="Georgia"/>
              </a:rPr>
              <a:t>Có thể xây dựng hệ thống crypto realtime kết hợp Lambda Architecture +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31920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8A870"/>
                </a:solidFill>
                <a:latin typeface="Georgia"/>
              </a:rPr>
              <a:t>→ CÓ — với bằng chứng cụ thể và đánh giá nghiêm túc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33018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870"/>
                </a:solidFill>
                <a:latin typeface="Georgia"/>
              </a:rPr>
              <a:t>61,1%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8"/>
                </a:solidFill>
                <a:latin typeface="Calibri"/>
              </a:rPr>
              <a:t>Directional Accuracy · 7 ngày · 18 cửa sổ 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4754880"/>
            <a:ext cx="33018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870"/>
                </a:solidFill>
                <a:latin typeface="Georgia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52578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8"/>
                </a:solidFill>
                <a:latin typeface="Calibri"/>
              </a:rPr>
              <a:t>Docker services · 1 lệnh make docker-up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2516" y="4754880"/>
            <a:ext cx="33018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870"/>
                </a:solidFill>
                <a:latin typeface="Georgia"/>
              </a:rPr>
              <a:t>11,4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2516" y="52578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8"/>
                </a:solidFill>
                <a:latin typeface="Calibri"/>
              </a:rPr>
              <a:t>Năm dữ liệu · 4.165 quan sát/coin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760720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E5A6E"/>
                </a:solidFill>
                <a:latin typeface="Calibri"/>
              </a:rPr>
              <a:t>Diễn giải thận trọng: 18 cửa sổ trên 1 giai đoạn thị trường · Dự đoán crypto dài hạn vẫn là bài toán mở · Tail events nằm ngoài khả năng dự đoán của mọi mô hình hiện tại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